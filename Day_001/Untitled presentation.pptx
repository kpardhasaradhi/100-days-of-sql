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2344400" cx="9875525"/>
  <p:notesSz cx="6858000" cy="9144000"/>
  <p:embeddedFontLst>
    <p:embeddedFont>
      <p:font typeface="Inter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888">
          <p15:clr>
            <a:srgbClr val="747775"/>
          </p15:clr>
        </p15:guide>
        <p15:guide id="2" pos="31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88" orient="horz"/>
        <p:guide pos="311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bold.fntdata"/><Relationship Id="rId10" Type="http://schemas.openxmlformats.org/officeDocument/2006/relationships/font" Target="fonts/Inter-regular.fntdata"/><Relationship Id="rId13" Type="http://schemas.openxmlformats.org/officeDocument/2006/relationships/font" Target="fonts/Inter-boldItalic.fntdata"/><Relationship Id="rId12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5772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5447f0a2d_0_2211:notes"/>
          <p:cNvSpPr/>
          <p:nvPr>
            <p:ph idx="2" type="sldImg"/>
          </p:nvPr>
        </p:nvSpPr>
        <p:spPr>
          <a:xfrm>
            <a:off x="205772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5447f0a2d_0_2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205772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5447f0a2d_0_2510:notes"/>
          <p:cNvSpPr/>
          <p:nvPr>
            <p:ph idx="2" type="sldImg"/>
          </p:nvPr>
        </p:nvSpPr>
        <p:spPr>
          <a:xfrm>
            <a:off x="205772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5447f0a2d_0_2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5447f0a2d_0_2539:notes"/>
          <p:cNvSpPr/>
          <p:nvPr>
            <p:ph idx="2" type="sldImg"/>
          </p:nvPr>
        </p:nvSpPr>
        <p:spPr>
          <a:xfrm>
            <a:off x="2057720" y="685800"/>
            <a:ext cx="2743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5447f0a2d_0_2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36645" y="1786980"/>
            <a:ext cx="9202200" cy="4926300"/>
          </a:xfrm>
          <a:prstGeom prst="rect">
            <a:avLst/>
          </a:prstGeom>
        </p:spPr>
        <p:txBody>
          <a:bodyPr anchorCtr="0" anchor="b" bIns="138975" lIns="138975" spcFirstLastPara="1" rIns="138975" wrap="square" tIns="138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36636" y="6801900"/>
            <a:ext cx="9202200" cy="19023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36636" y="5162040"/>
            <a:ext cx="9202200" cy="20202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36636" y="1068060"/>
            <a:ext cx="9202200" cy="13746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36636" y="2765940"/>
            <a:ext cx="9202200" cy="81993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36636" y="1068060"/>
            <a:ext cx="9202200" cy="13746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36636" y="2765940"/>
            <a:ext cx="4320000" cy="81993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218995" y="2765940"/>
            <a:ext cx="4320000" cy="81993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indent="-361950" lvl="0" marL="457200">
              <a:spcBef>
                <a:spcPts val="0"/>
              </a:spcBef>
              <a:spcAft>
                <a:spcPts val="0"/>
              </a:spcAft>
              <a:buSzPts val="2100"/>
              <a:buChar char="●"/>
              <a:defRPr sz="21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36636" y="1068060"/>
            <a:ext cx="9202200" cy="13746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36636" y="1333440"/>
            <a:ext cx="3032700" cy="1813800"/>
          </a:xfrm>
          <a:prstGeom prst="rect">
            <a:avLst/>
          </a:prstGeom>
        </p:spPr>
        <p:txBody>
          <a:bodyPr anchorCtr="0" anchor="b" bIns="138975" lIns="138975" spcFirstLastPara="1" rIns="138975" wrap="square" tIns="138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36636" y="3335040"/>
            <a:ext cx="3032700" cy="76305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29470" y="1080360"/>
            <a:ext cx="6877200" cy="98178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1pPr>
            <a:lvl2pPr lvl="1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2pPr>
            <a:lvl3pPr lvl="2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3pPr>
            <a:lvl4pPr lvl="3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4pPr>
            <a:lvl5pPr lvl="4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5pPr>
            <a:lvl6pPr lvl="5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6pPr>
            <a:lvl7pPr lvl="6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7pPr>
            <a:lvl8pPr lvl="7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8pPr>
            <a:lvl9pPr lvl="8">
              <a:spcBef>
                <a:spcPts val="0"/>
              </a:spcBef>
              <a:spcAft>
                <a:spcPts val="0"/>
              </a:spcAft>
              <a:buSzPts val="7300"/>
              <a:buNone/>
              <a:defRPr sz="73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937763" y="60"/>
            <a:ext cx="4937700" cy="1234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38975" lIns="138975" spcFirstLastPara="1" rIns="138975" wrap="square" tIns="13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86740" y="2959620"/>
            <a:ext cx="4368900" cy="3557400"/>
          </a:xfrm>
          <a:prstGeom prst="rect">
            <a:avLst/>
          </a:prstGeom>
        </p:spPr>
        <p:txBody>
          <a:bodyPr anchorCtr="0" anchor="b" bIns="138975" lIns="138975" spcFirstLastPara="1" rIns="138975" wrap="square" tIns="138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86740" y="6727380"/>
            <a:ext cx="4368900" cy="29643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334663" y="1738080"/>
            <a:ext cx="4143900" cy="88683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indent="-400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Char char="●"/>
              <a:defRPr>
                <a:solidFill>
                  <a:schemeClr val="dk1"/>
                </a:solidFill>
              </a:defRPr>
            </a:lvl1pPr>
            <a:lvl2pPr indent="-3619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>
                <a:solidFill>
                  <a:schemeClr val="dk1"/>
                </a:solidFill>
              </a:defRPr>
            </a:lvl2pPr>
            <a:lvl3pPr indent="-3619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  <a:defRPr>
                <a:solidFill>
                  <a:schemeClr val="dk1"/>
                </a:solidFill>
              </a:defRPr>
            </a:lvl3pPr>
            <a:lvl4pPr indent="-3619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solidFill>
                  <a:schemeClr val="dk1"/>
                </a:solidFill>
              </a:defRPr>
            </a:lvl4pPr>
            <a:lvl5pPr indent="-3619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>
                <a:solidFill>
                  <a:schemeClr val="dk1"/>
                </a:solidFill>
              </a:defRPr>
            </a:lvl5pPr>
            <a:lvl6pPr indent="-3619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  <a:defRPr>
                <a:solidFill>
                  <a:schemeClr val="dk1"/>
                </a:solidFill>
              </a:defRPr>
            </a:lvl6pPr>
            <a:lvl7pPr indent="-3619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>
                <a:solidFill>
                  <a:schemeClr val="dk1"/>
                </a:solidFill>
              </a:defRPr>
            </a:lvl7pPr>
            <a:lvl8pPr indent="-3619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  <a:defRPr>
                <a:solidFill>
                  <a:schemeClr val="dk1"/>
                </a:solidFill>
              </a:defRPr>
            </a:lvl8pPr>
            <a:lvl9pPr indent="-3619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36636" y="10153380"/>
            <a:ext cx="6478800" cy="14523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36636" y="2654700"/>
            <a:ext cx="9202200" cy="4712400"/>
          </a:xfrm>
          <a:prstGeom prst="rect">
            <a:avLst/>
          </a:prstGeom>
        </p:spPr>
        <p:txBody>
          <a:bodyPr anchorCtr="0" anchor="b" bIns="138975" lIns="138975" spcFirstLastPara="1" rIns="138975" wrap="square" tIns="1389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36636" y="7565340"/>
            <a:ext cx="9202200" cy="31218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>
            <a:lvl1pPr indent="-400050" lvl="0" marL="457200" algn="ctr">
              <a:spcBef>
                <a:spcPts val="0"/>
              </a:spcBef>
              <a:spcAft>
                <a:spcPts val="0"/>
              </a:spcAft>
              <a:buSzPts val="2700"/>
              <a:buChar char="●"/>
              <a:defRPr/>
            </a:lvl1pPr>
            <a:lvl2pPr indent="-361950" lvl="1" marL="914400" algn="ctr"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2pPr>
            <a:lvl3pPr indent="-361950" lvl="2" marL="1371600" algn="ctr"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3pPr>
            <a:lvl4pPr indent="-361950" lvl="3" marL="18288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4pPr>
            <a:lvl5pPr indent="-361950" lvl="4" marL="2286000" algn="ctr"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5pPr>
            <a:lvl6pPr indent="-361950" lvl="5" marL="2743200" algn="ctr"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6pPr>
            <a:lvl7pPr indent="-361950" lvl="6" marL="3200400" algn="ctr">
              <a:spcBef>
                <a:spcPts val="0"/>
              </a:spcBef>
              <a:spcAft>
                <a:spcPts val="0"/>
              </a:spcAft>
              <a:buSzPts val="2100"/>
              <a:buChar char="●"/>
              <a:defRPr/>
            </a:lvl7pPr>
            <a:lvl8pPr indent="-361950" lvl="7" marL="3657600" algn="ctr">
              <a:spcBef>
                <a:spcPts val="0"/>
              </a:spcBef>
              <a:spcAft>
                <a:spcPts val="0"/>
              </a:spcAft>
              <a:buSzPts val="2100"/>
              <a:buChar char="○"/>
              <a:defRPr/>
            </a:lvl8pPr>
            <a:lvl9pPr indent="-361950" lvl="8" marL="4114800" algn="ctr">
              <a:spcBef>
                <a:spcPts val="0"/>
              </a:spcBef>
              <a:spcAft>
                <a:spcPts val="0"/>
              </a:spcAft>
              <a:buSzPts val="21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6636" y="1068060"/>
            <a:ext cx="9202200" cy="13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38975" lIns="138975" spcFirstLastPara="1" rIns="138975" wrap="square" tIns="1389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36636" y="2765940"/>
            <a:ext cx="9202200" cy="81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38975" lIns="138975" spcFirstLastPara="1" rIns="138975" wrap="square" tIns="138975">
            <a:normAutofit/>
          </a:bodyPr>
          <a:lstStyle>
            <a:lvl1pPr indent="-4000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Char char="●"/>
              <a:defRPr sz="2700">
                <a:solidFill>
                  <a:schemeClr val="lt2"/>
                </a:solidFill>
              </a:defRPr>
            </a:lvl1pPr>
            <a:lvl2pPr indent="-3619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○"/>
              <a:defRPr sz="2100">
                <a:solidFill>
                  <a:schemeClr val="lt2"/>
                </a:solidFill>
              </a:defRPr>
            </a:lvl2pPr>
            <a:lvl3pPr indent="-3619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■"/>
              <a:defRPr sz="2100">
                <a:solidFill>
                  <a:schemeClr val="lt2"/>
                </a:solidFill>
              </a:defRPr>
            </a:lvl3pPr>
            <a:lvl4pPr indent="-3619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●"/>
              <a:defRPr sz="2100">
                <a:solidFill>
                  <a:schemeClr val="lt2"/>
                </a:solidFill>
              </a:defRPr>
            </a:lvl4pPr>
            <a:lvl5pPr indent="-3619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○"/>
              <a:defRPr sz="2100">
                <a:solidFill>
                  <a:schemeClr val="lt2"/>
                </a:solidFill>
              </a:defRPr>
            </a:lvl5pPr>
            <a:lvl6pPr indent="-3619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■"/>
              <a:defRPr sz="2100">
                <a:solidFill>
                  <a:schemeClr val="lt2"/>
                </a:solidFill>
              </a:defRPr>
            </a:lvl6pPr>
            <a:lvl7pPr indent="-3619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●"/>
              <a:defRPr sz="2100">
                <a:solidFill>
                  <a:schemeClr val="lt2"/>
                </a:solidFill>
              </a:defRPr>
            </a:lvl7pPr>
            <a:lvl8pPr indent="-3619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○"/>
              <a:defRPr sz="2100">
                <a:solidFill>
                  <a:schemeClr val="lt2"/>
                </a:solidFill>
              </a:defRPr>
            </a:lvl8pPr>
            <a:lvl9pPr indent="-3619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Char char="■"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150259" y="11191720"/>
            <a:ext cx="5925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8975" lIns="138975" spcFirstLastPara="1" rIns="138975" wrap="square" tIns="138975">
            <a:normAutofit/>
          </a:bodyPr>
          <a:lstStyle>
            <a:lvl1pPr lvl="0" algn="r">
              <a:buNone/>
              <a:defRPr sz="1500">
                <a:solidFill>
                  <a:schemeClr val="lt2"/>
                </a:solidFill>
              </a:defRPr>
            </a:lvl1pPr>
            <a:lvl2pPr lvl="1" algn="r">
              <a:buNone/>
              <a:defRPr sz="1500">
                <a:solidFill>
                  <a:schemeClr val="lt2"/>
                </a:solidFill>
              </a:defRPr>
            </a:lvl2pPr>
            <a:lvl3pPr lvl="2" algn="r">
              <a:buNone/>
              <a:defRPr sz="1500">
                <a:solidFill>
                  <a:schemeClr val="lt2"/>
                </a:solidFill>
              </a:defRPr>
            </a:lvl3pPr>
            <a:lvl4pPr lvl="3" algn="r">
              <a:buNone/>
              <a:defRPr sz="1500">
                <a:solidFill>
                  <a:schemeClr val="lt2"/>
                </a:solidFill>
              </a:defRPr>
            </a:lvl4pPr>
            <a:lvl5pPr lvl="4" algn="r">
              <a:buNone/>
              <a:defRPr sz="1500">
                <a:solidFill>
                  <a:schemeClr val="lt2"/>
                </a:solidFill>
              </a:defRPr>
            </a:lvl5pPr>
            <a:lvl6pPr lvl="5" algn="r">
              <a:buNone/>
              <a:defRPr sz="1500">
                <a:solidFill>
                  <a:schemeClr val="lt2"/>
                </a:solidFill>
              </a:defRPr>
            </a:lvl6pPr>
            <a:lvl7pPr lvl="6" algn="r">
              <a:buNone/>
              <a:defRPr sz="1500">
                <a:solidFill>
                  <a:schemeClr val="lt2"/>
                </a:solidFill>
              </a:defRPr>
            </a:lvl7pPr>
            <a:lvl8pPr lvl="7" algn="r">
              <a:buNone/>
              <a:defRPr sz="1500">
                <a:solidFill>
                  <a:schemeClr val="lt2"/>
                </a:solidFill>
              </a:defRPr>
            </a:lvl8pPr>
            <a:lvl9pPr lvl="8" algn="r">
              <a:buNone/>
              <a:defRPr sz="15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10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845700" y="3805275"/>
            <a:ext cx="6728100" cy="2191200"/>
          </a:xfrm>
          <a:prstGeom prst="rect">
            <a:avLst/>
          </a:prstGeom>
          <a:ln>
            <a:noFill/>
          </a:ln>
        </p:spPr>
        <p:txBody>
          <a:bodyPr anchorCtr="0" anchor="b" bIns="138975" lIns="138975" spcFirstLastPara="1" rIns="138975" wrap="square" tIns="1389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4894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SQL Challenge: Day 1</a:t>
            </a:r>
            <a:endParaRPr sz="4894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5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100 days of SQL challenge</a:t>
            </a:r>
            <a:endParaRPr sz="2350">
              <a:solidFill>
                <a:srgbClr val="D9D9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5" name="Google Shape;55;p13"/>
          <p:cNvCxnSpPr/>
          <p:nvPr/>
        </p:nvCxnSpPr>
        <p:spPr>
          <a:xfrm rot="10800000">
            <a:off x="201813" y="7417550"/>
            <a:ext cx="9471900" cy="21600"/>
          </a:xfrm>
          <a:prstGeom prst="straightConnector1">
            <a:avLst/>
          </a:prstGeom>
          <a:noFill/>
          <a:ln cap="flat" cmpd="sng" w="19050">
            <a:solidFill>
              <a:srgbClr val="D9D9D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" name="Google Shape;56;p13"/>
          <p:cNvSpPr txBox="1"/>
          <p:nvPr/>
        </p:nvSpPr>
        <p:spPr>
          <a:xfrm>
            <a:off x="6187475" y="9098825"/>
            <a:ext cx="45342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FEFEF"/>
                </a:solidFill>
              </a:rPr>
              <a:t>Pardha Saradhi kanumuri</a:t>
            </a:r>
            <a:endParaRPr sz="1900">
              <a:solidFill>
                <a:srgbClr val="EFEFE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0101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761375" y="269025"/>
            <a:ext cx="8179200" cy="4751100"/>
          </a:xfrm>
          <a:prstGeom prst="rect">
            <a:avLst/>
          </a:prstGeom>
          <a:ln>
            <a:noFill/>
          </a:ln>
        </p:spPr>
        <p:txBody>
          <a:bodyPr anchorCtr="0" anchor="b" bIns="138975" lIns="138975" spcFirstLastPara="1" rIns="138975" wrap="square" tIns="1389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  <a:r>
              <a:rPr lang="en" sz="26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26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You are given a table match_results with columns team1, team2, and winner. Each row represents a match between two teams and the winner.</a:t>
            </a:r>
            <a:endParaRPr sz="22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Task:</a:t>
            </a:r>
            <a:endParaRPr b="1" sz="26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Write an SQL query to generate a points table showing:</a:t>
            </a:r>
            <a:endParaRPr sz="22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200"/>
              <a:buFont typeface="Inter"/>
              <a:buChar char="●"/>
            </a:pPr>
            <a:r>
              <a:rPr lang="en" sz="22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Team Name</a:t>
            </a:r>
            <a:endParaRPr sz="22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200"/>
              <a:buFont typeface="Inter"/>
              <a:buChar char="●"/>
            </a:pPr>
            <a:r>
              <a:rPr lang="en" sz="22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Total matches played</a:t>
            </a:r>
            <a:endParaRPr sz="22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200"/>
              <a:buFont typeface="Inter"/>
              <a:buChar char="●"/>
            </a:pPr>
            <a:r>
              <a:rPr lang="en" sz="22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Number of wins</a:t>
            </a:r>
            <a:endParaRPr sz="22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200"/>
              <a:buFont typeface="Inter"/>
              <a:buChar char="●"/>
            </a:pPr>
            <a:r>
              <a:rPr lang="en" sz="22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Number of losses</a:t>
            </a:r>
            <a:endParaRPr sz="22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825" y="6172200"/>
            <a:ext cx="8938301" cy="2753075"/>
          </a:xfrm>
          <a:prstGeom prst="rect">
            <a:avLst/>
          </a:prstGeom>
          <a:noFill/>
          <a:ln cap="flat" cmpd="sng" w="28575">
            <a:solidFill>
              <a:srgbClr val="F9FBF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/>
        </p:nvSpPr>
        <p:spPr>
          <a:xfrm>
            <a:off x="6926550" y="9477225"/>
            <a:ext cx="3490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#100DaysOfSQLChallenge</a:t>
            </a:r>
            <a:endParaRPr>
              <a:solidFill>
                <a:srgbClr val="D9D9D9"/>
              </a:solidFill>
            </a:endParaRPr>
          </a:p>
        </p:txBody>
      </p:sp>
      <p:cxnSp>
        <p:nvCxnSpPr>
          <p:cNvPr id="64" name="Google Shape;64;p14"/>
          <p:cNvCxnSpPr/>
          <p:nvPr/>
        </p:nvCxnSpPr>
        <p:spPr>
          <a:xfrm flipH="1" rot="10800000">
            <a:off x="229913" y="5419125"/>
            <a:ext cx="9242100" cy="21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ctrTitle"/>
          </p:nvPr>
        </p:nvSpPr>
        <p:spPr>
          <a:xfrm>
            <a:off x="336675" y="419799"/>
            <a:ext cx="9202200" cy="2029200"/>
          </a:xfrm>
          <a:prstGeom prst="rect">
            <a:avLst/>
          </a:prstGeom>
        </p:spPr>
        <p:txBody>
          <a:bodyPr anchorCtr="0" anchor="b" bIns="138975" lIns="138975" spcFirstLastPara="1" rIns="138975" wrap="square" tIns="13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Goal</a:t>
            </a:r>
            <a:r>
              <a:rPr lang="en" sz="24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endParaRPr sz="24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>
                <a:solidFill>
                  <a:schemeClr val="accent2"/>
                </a:solidFill>
                <a:latin typeface="Inter"/>
                <a:ea typeface="Inter"/>
                <a:cs typeface="Inter"/>
                <a:sym typeface="Inter"/>
              </a:rPr>
              <a:t>Create a points table showing matches played, wins and losses.</a:t>
            </a:r>
            <a:endParaRPr sz="2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865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2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5"/>
          <p:cNvSpPr txBox="1"/>
          <p:nvPr>
            <p:ph idx="1" type="subTitle"/>
          </p:nvPr>
        </p:nvSpPr>
        <p:spPr>
          <a:xfrm>
            <a:off x="336636" y="6801900"/>
            <a:ext cx="9202200" cy="1902300"/>
          </a:xfrm>
          <a:prstGeom prst="rect">
            <a:avLst/>
          </a:prstGeom>
        </p:spPr>
        <p:txBody>
          <a:bodyPr anchorCtr="0" anchor="t" bIns="138975" lIns="138975" spcFirstLastPara="1" rIns="138975" wrap="square" tIns="1389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225" y="2893975"/>
            <a:ext cx="9104976" cy="5597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5"/>
          <p:cNvSpPr txBox="1"/>
          <p:nvPr/>
        </p:nvSpPr>
        <p:spPr>
          <a:xfrm>
            <a:off x="7011700" y="9462350"/>
            <a:ext cx="3490800" cy="629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#100DaysOfSQLChallenge</a:t>
            </a:r>
            <a:endParaRPr>
              <a:solidFill>
                <a:srgbClr val="D9D9D9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0" y="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latin typeface="Inter"/>
                <a:ea typeface="Inter"/>
                <a:cs typeface="Inter"/>
                <a:sym typeface="Inter"/>
              </a:rPr>
              <a:t>It’s taking some time to find the right direction, but I feel like I’m on the right track.</a:t>
            </a:r>
            <a:endParaRPr/>
          </a:p>
        </p:txBody>
      </p:sp>
      <p:cxnSp>
        <p:nvCxnSpPr>
          <p:cNvPr id="74" name="Google Shape;74;p15"/>
          <p:cNvCxnSpPr/>
          <p:nvPr/>
        </p:nvCxnSpPr>
        <p:spPr>
          <a:xfrm flipH="1" rot="10800000">
            <a:off x="336625" y="2406650"/>
            <a:ext cx="9017100" cy="42300"/>
          </a:xfrm>
          <a:prstGeom prst="straightConnector1">
            <a:avLst/>
          </a:prstGeom>
          <a:noFill/>
          <a:ln cap="flat" cmpd="sng" w="9525">
            <a:solidFill>
              <a:srgbClr val="EFEFE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ctrTitle"/>
          </p:nvPr>
        </p:nvSpPr>
        <p:spPr>
          <a:xfrm>
            <a:off x="604425" y="2717802"/>
            <a:ext cx="8666700" cy="5744700"/>
          </a:xfrm>
          <a:prstGeom prst="rect">
            <a:avLst/>
          </a:prstGeom>
          <a:effectLst>
            <a:outerShdw blurRad="28575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b" bIns="138975" lIns="138975" spcFirstLastPara="1" rIns="138975" wrap="square" tIns="138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45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I Approached It – Day 1</a:t>
            </a:r>
            <a:endParaRPr b="1" sz="40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When I looked at the problem,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 the first thing I noticed was that each match had two separate team columns. To analyze all teams together, I combined them into a single list using</a:t>
            </a:r>
            <a:r>
              <a:rPr b="1"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lang="en" sz="2000">
                <a:solidFill>
                  <a:srgbClr val="FFD966"/>
                </a:solidFill>
                <a:latin typeface="Inter"/>
                <a:ea typeface="Inter"/>
                <a:cs typeface="Inter"/>
                <a:sym typeface="Inter"/>
              </a:rPr>
              <a:t>UNION ALL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20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Next, I needed a way to identify 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which team won each match, so I used conditional logic (</a:t>
            </a:r>
            <a:r>
              <a:rPr b="1" lang="en" sz="2000">
                <a:solidFill>
                  <a:srgbClr val="FFD966"/>
                </a:solidFill>
                <a:latin typeface="Inter"/>
                <a:ea typeface="Inter"/>
                <a:cs typeface="Inter"/>
                <a:sym typeface="Inter"/>
              </a:rPr>
              <a:t>CASE WHEN</a:t>
            </a:r>
            <a:r>
              <a:rPr lang="en" sz="2000">
                <a:solidFill>
                  <a:srgbClr val="FFD966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 to assign a win to the correct team.</a:t>
            </a:r>
            <a:endParaRPr sz="20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A4C2F4"/>
                </a:solidFill>
                <a:latin typeface="Inter"/>
                <a:ea typeface="Inter"/>
                <a:cs typeface="Inter"/>
                <a:sym typeface="Inter"/>
              </a:rPr>
              <a:t>After preparing that, I summarized</a:t>
            </a:r>
            <a:r>
              <a:rPr b="1" lang="en" sz="2000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the results by team using </a:t>
            </a:r>
            <a:r>
              <a:rPr b="1" lang="en" sz="2000">
                <a:solidFill>
                  <a:srgbClr val="FFD966"/>
                </a:solidFill>
                <a:latin typeface="Inter"/>
                <a:ea typeface="Inter"/>
                <a:cs typeface="Inter"/>
                <a:sym typeface="Inter"/>
              </a:rPr>
              <a:t>GROUP BY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 to calculate matches played, matches won, and matches lost.</a:t>
            </a:r>
            <a:endParaRPr sz="2000">
              <a:solidFill>
                <a:srgbClr val="F3F3F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D9EE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6D9EEB"/>
                </a:solidFill>
                <a:latin typeface="Inter"/>
                <a:ea typeface="Inter"/>
                <a:cs typeface="Inter"/>
                <a:sym typeface="Inter"/>
              </a:rPr>
              <a:t>Finally, I arranged</a:t>
            </a:r>
            <a:r>
              <a:rPr b="1"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the output so the top-performing teams appear first </a:t>
            </a:r>
            <a:r>
              <a:rPr b="1"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using </a:t>
            </a:r>
            <a:r>
              <a:rPr b="1" lang="en" sz="2000">
                <a:solidFill>
                  <a:srgbClr val="FFD966"/>
                </a:solidFill>
                <a:latin typeface="Inter"/>
                <a:ea typeface="Inter"/>
                <a:cs typeface="Inter"/>
                <a:sym typeface="Inter"/>
              </a:rPr>
              <a:t>ORDER BY</a:t>
            </a:r>
            <a:r>
              <a:rPr lang="en" sz="2000">
                <a:solidFill>
                  <a:srgbClr val="F3F3F3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1" sz="2600">
              <a:solidFill>
                <a:schemeClr val="accen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6946925" y="9338750"/>
            <a:ext cx="2619000" cy="592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7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#100DaysOfSQLChallenge</a:t>
            </a:r>
            <a:endParaRPr>
              <a:solidFill>
                <a:srgbClr val="D9D9D9"/>
              </a:solidFill>
            </a:endParaRPr>
          </a:p>
        </p:txBody>
      </p:sp>
      <p:cxnSp>
        <p:nvCxnSpPr>
          <p:cNvPr id="81" name="Google Shape;81;p16"/>
          <p:cNvCxnSpPr/>
          <p:nvPr/>
        </p:nvCxnSpPr>
        <p:spPr>
          <a:xfrm flipH="1" rot="10800000">
            <a:off x="604425" y="2188625"/>
            <a:ext cx="9017100" cy="42300"/>
          </a:xfrm>
          <a:prstGeom prst="straightConnector1">
            <a:avLst/>
          </a:prstGeom>
          <a:noFill/>
          <a:ln cap="flat" cmpd="sng" w="9525">
            <a:solidFill>
              <a:srgbClr val="EFEFE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